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63" r:id="rId10"/>
    <p:sldId id="264" r:id="rId11"/>
    <p:sldId id="265" r:id="rId12"/>
    <p:sldId id="266" r:id="rId13"/>
    <p:sldId id="267" r:id="rId14"/>
    <p:sldId id="283" r:id="rId15"/>
    <p:sldId id="279" r:id="rId16"/>
    <p:sldId id="281" r:id="rId17"/>
    <p:sldId id="269" r:id="rId18"/>
    <p:sldId id="268" r:id="rId19"/>
    <p:sldId id="282" r:id="rId20"/>
    <p:sldId id="277" r:id="rId21"/>
    <p:sldId id="271" r:id="rId22"/>
    <p:sldId id="272" r:id="rId23"/>
    <p:sldId id="273" r:id="rId24"/>
    <p:sldId id="276" r:id="rId25"/>
  </p:sldIdLst>
  <p:sldSz cx="16256000" cy="9144000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Montserrat" pitchFamily="2" charset="77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rNuTxEVOPC0pmZ8c6p5/IhExT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55FE1D-52B1-4ECD-BE06-7EE0E7832DF4}">
  <a:tblStyle styleId="{CE55FE1D-52B1-4ECD-BE06-7EE0E7832D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AB8DC0D-F258-4166-BE7D-220E6AFBE66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8"/>
  </p:normalViewPr>
  <p:slideViewPr>
    <p:cSldViewPr snapToGrid="0">
      <p:cViewPr>
        <p:scale>
          <a:sx n="66" d="100"/>
          <a:sy n="66" d="100"/>
        </p:scale>
        <p:origin x="312" y="9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5a5356d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5a5356d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a5356dd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5a5356dd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5a5356dd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5a5356dd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a5356dd2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e5a5356dd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5a5356dd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5a5356dd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a5356dd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a5356dd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5a5356dd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5a5356dd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5a5356d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5a5356d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5a5356dd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5a5356dd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a5356dd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5a5356dd2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5a5356dd2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5a5356dd2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5a5356dd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5a5356dd2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egg.jp/pathway/map01100" TargetMode="External"/><Relationship Id="rId3" Type="http://schemas.openxmlformats.org/officeDocument/2006/relationships/hyperlink" Target="https://academic.oup.com/bioinformatics/article/34/9/1538/4747884" TargetMode="External"/><Relationship Id="rId7" Type="http://schemas.openxmlformats.org/officeDocument/2006/relationships/hyperlink" Target="https://string-db.org/cgi/download?sessionId=bXpoT6tV8LHu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12753315/" TargetMode="External"/><Relationship Id="rId5" Type="http://schemas.openxmlformats.org/officeDocument/2006/relationships/hyperlink" Target="https://www.nature.com/articles/s41467-017-02391-6?utm_source=chatgpt.com" TargetMode="External"/><Relationship Id="rId4" Type="http://schemas.openxmlformats.org/officeDocument/2006/relationships/hyperlink" Target="https://www.bioinf.jku.at/software/DeepSyner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e5a5356dd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425" y="921450"/>
            <a:ext cx="13096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e5a5356dd2_0_0"/>
          <p:cNvSpPr/>
          <p:nvPr/>
        </p:nvSpPr>
        <p:spPr>
          <a:xfrm>
            <a:off x="2867725" y="2865575"/>
            <a:ext cx="2268600" cy="4729500"/>
          </a:xfrm>
          <a:prstGeom prst="rect">
            <a:avLst/>
          </a:prstGeom>
          <a:noFill/>
          <a:ln w="1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5a5356dd2_0_5"/>
          <p:cNvSpPr txBox="1"/>
          <p:nvPr/>
        </p:nvSpPr>
        <p:spPr>
          <a:xfrm>
            <a:off x="2987350" y="815225"/>
            <a:ext cx="10281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Therapeutics Data Commons (TDC)</a:t>
            </a:r>
            <a:endParaRPr/>
          </a:p>
        </p:txBody>
      </p:sp>
      <p:graphicFrame>
        <p:nvGraphicFramePr>
          <p:cNvPr id="96" name="Google Shape;96;g3e5a5356dd2_0_5"/>
          <p:cNvGraphicFramePr/>
          <p:nvPr/>
        </p:nvGraphicFramePr>
        <p:xfrm>
          <a:off x="759250" y="2602775"/>
          <a:ext cx="13530700" cy="2187975"/>
        </p:xfrm>
        <a:graphic>
          <a:graphicData uri="http://schemas.openxmlformats.org/drawingml/2006/table">
            <a:tbl>
              <a:tblPr>
                <a:noFill/>
                <a:tableStyleId>{CE55FE1D-52B1-4ECD-BE06-7EE0E7832DF4}</a:tableStyleId>
              </a:tblPr>
              <a:tblGrid>
                <a:gridCol w="39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smiles_a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smiles_b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cell_line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target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CCCCCOC(=O)NC1=NC(=O)N(C=C1F)C2C(C(C(O2)C)O)O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CC1C(C(CC(O1)OC2CC(CC3=C2C(=C4C(=C3O)C(=O)C5=C(C4=O)C(=CC=C5)OC)O)(C(=O)CO)O)N)O.Cl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786-0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-2.6412059407483400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CCCCCOC(=O)NC1=NC(=O)N(C=C1F)C2C(C(C(O2)C)O)O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CC1C(C(CC(O1)OC2CC(CC3=C2C(=C4C(=C3O)C(=O)C5=C(C4=O)C(=CC=C5)OC)O)(C(=O)CO)O)N)O.Cl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A498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-1.9062015723274300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CCCCCOC(=O)NC1=NC(=O)N(C=C1F)C2C(C(C(O2)C)O)O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CC1C(C(CC(O1)OC2CC(CC3=C2C(=C4C(=C3O)C(=O)C5=C(C4=O)C(=CC=C5)OC)O)(C(=O)CO)O)N)O.Cl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A549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-1.3075159684751300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CCCCCOC(=O)NC1=NC(=O)N(C=C1F)C2C(C(C(O2)C)O)O</a:t>
                      </a:r>
                      <a:endParaRPr sz="1050" b="1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CC1C(C(CC(O1)OC2CC(CC3=C2C(=C4C(=C3O)C(=O)C5=C(C4=O)C(=CC=C5)OC)O)(C(=O)CO)O)N)O.Cl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ACHN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-4.307712681538250</a:t>
                      </a:r>
                      <a:endParaRPr sz="1050"/>
                    </a:p>
                  </a:txBody>
                  <a:tcPr marL="38100" marR="38100" marT="38100" marB="38100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" name="Google Shape;97;g3e5a5356dd2_0_5"/>
          <p:cNvSpPr txBox="1"/>
          <p:nvPr/>
        </p:nvSpPr>
        <p:spPr>
          <a:xfrm>
            <a:off x="1418700" y="1932725"/>
            <a:ext cx="79443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DrugComb, NCI-60 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(National Cancer Institute 60 cellines)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g3e5a5356dd2_0_5"/>
          <p:cNvCxnSpPr/>
          <p:nvPr/>
        </p:nvCxnSpPr>
        <p:spPr>
          <a:xfrm flipH="1">
            <a:off x="10108025" y="4852550"/>
            <a:ext cx="1651500" cy="106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" name="Google Shape;99;g3e5a5356dd2_0_5"/>
          <p:cNvSpPr txBox="1"/>
          <p:nvPr/>
        </p:nvSpPr>
        <p:spPr>
          <a:xfrm>
            <a:off x="660600" y="5161950"/>
            <a:ext cx="55146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Rows: 297,098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Presentation columns: 8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Cell lines: 59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Drug 1 identifiers: 127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Drug 2 identifiers: 126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Mean CSS: 23.13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ZIP synergy range: -36.01 to 66.66; mean -0.84</a:t>
            </a:r>
            <a:endParaRPr sz="1700"/>
          </a:p>
        </p:txBody>
      </p:sp>
      <p:sp>
        <p:nvSpPr>
          <p:cNvPr id="100" name="Google Shape;100;g3e5a5356dd2_0_5"/>
          <p:cNvSpPr txBox="1"/>
          <p:nvPr/>
        </p:nvSpPr>
        <p:spPr>
          <a:xfrm>
            <a:off x="7550875" y="6060650"/>
            <a:ext cx="4539000" cy="1844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[array([0.   , 0.057, 2.564, ..., 0.   , 0.   , 0.   ]), array([4.662, 4.843, 5.301, ..., 5.432, 5.995, 5.492]), array([10.  ,  9.38,  7.73,  9.68,  7.08,  6.39,  6.75,  7.4 ,  2.3 ,</a:t>
            </a:r>
            <a:endParaRPr sz="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       10.69,  7.22, 11.19,  6.61,  6.81,  5.22,  5.53,  2.3 ,  7.93,</a:t>
            </a:r>
            <a:endParaRPr sz="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        2.3 , 12.78,  8.52,  7.46, 12.4 ,  6.37, 12.07,  7.71, 10.47,</a:t>
            </a:r>
            <a:endParaRPr sz="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       …, </a:t>
            </a:r>
            <a:endParaRPr sz="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   </a:t>
            </a:r>
            <a:endParaRPr sz="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        </a:t>
            </a:r>
            <a:r>
              <a:rPr lang="en-US" sz="950" b="1">
                <a:solidFill>
                  <a:schemeClr val="dk1"/>
                </a:solidFill>
              </a:rPr>
              <a:t>2.3 ,  2.3 ,  2.3 ,  2.3 ,  2.3</a:t>
            </a:r>
            <a:r>
              <a:rPr lang="en-US" sz="950">
                <a:solidFill>
                  <a:schemeClr val="dk1"/>
                </a:solidFill>
              </a:rPr>
              <a:t> ,  5.5 ,  5.24,  </a:t>
            </a:r>
            <a:r>
              <a:rPr lang="en-US" sz="950" b="1">
                <a:solidFill>
                  <a:schemeClr val="dk1"/>
                </a:solidFill>
              </a:rPr>
              <a:t>2.3 ,</a:t>
            </a:r>
            <a:r>
              <a:rPr lang="en-US" sz="950">
                <a:solidFill>
                  <a:schemeClr val="dk1"/>
                </a:solidFill>
              </a:rPr>
              <a:t>  </a:t>
            </a:r>
            <a:r>
              <a:rPr lang="en-US" sz="950" b="1">
                <a:solidFill>
                  <a:schemeClr val="dk1"/>
                </a:solidFill>
              </a:rPr>
              <a:t>2.3 ,</a:t>
            </a:r>
            <a:endParaRPr sz="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        5.63,  2.3 ,  2.3 ,  2.3 ,  2.3 ,  2.3 ,  2.3 ,  2.3 ,  2.3 ,</a:t>
            </a:r>
            <a:endParaRPr sz="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</a:rPr>
              <a:t>        7.65,  5.93,  9.52,  9.96,  2.3 ,  2.3 ])]</a:t>
            </a:r>
            <a:endParaRPr sz="9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e5a5356dd2_0_35"/>
          <p:cNvPicPr preferRelativeResize="0"/>
          <p:nvPr/>
        </p:nvPicPr>
        <p:blipFill rotWithShape="1">
          <a:blip r:embed="rId3">
            <a:alphaModFix/>
          </a:blip>
          <a:srcRect t="15326"/>
          <a:stretch/>
        </p:blipFill>
        <p:spPr>
          <a:xfrm>
            <a:off x="30775" y="26740"/>
            <a:ext cx="16255999" cy="91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e5a5356dd2_0_128"/>
          <p:cNvPicPr preferRelativeResize="0"/>
          <p:nvPr/>
        </p:nvPicPr>
        <p:blipFill rotWithShape="1">
          <a:blip r:embed="rId3">
            <a:alphaModFix/>
          </a:blip>
          <a:srcRect b="13134"/>
          <a:stretch/>
        </p:blipFill>
        <p:spPr>
          <a:xfrm>
            <a:off x="2764550" y="3946125"/>
            <a:ext cx="11276375" cy="51978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g3e5a5356dd2_0_128"/>
          <p:cNvGraphicFramePr/>
          <p:nvPr/>
        </p:nvGraphicFramePr>
        <p:xfrm>
          <a:off x="3908063" y="835825"/>
          <a:ext cx="8989350" cy="2164700"/>
        </p:xfrm>
        <a:graphic>
          <a:graphicData uri="http://schemas.openxmlformats.org/drawingml/2006/table">
            <a:tbl>
              <a:tblPr>
                <a:noFill/>
                <a:tableStyleId>{1AB8DC0D-F258-4166-BE7D-220E6AFBE664}</a:tableStyleId>
              </a:tblPr>
              <a:tblGrid>
                <a:gridCol w="449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Test MSE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With ~23k celline genes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29.051481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With ~3k celline genes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29.046721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Without celline genes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20.250234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5a5356dd2_0_11"/>
          <p:cNvSpPr txBox="1"/>
          <p:nvPr/>
        </p:nvSpPr>
        <p:spPr>
          <a:xfrm>
            <a:off x="409904" y="3539202"/>
            <a:ext cx="16256000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1700" b="1">
                <a:solidFill>
                  <a:schemeClr val="dk1"/>
                </a:solidFill>
              </a:rPr>
              <a:t>cell_line col </a:t>
            </a:r>
            <a:r>
              <a:rPr lang="en-US" sz="1700" b="1">
                <a:solidFill>
                  <a:schemeClr val="dk1"/>
                </a:solidFill>
                <a:sym typeface="Wingdings" pitchFamily="2" charset="2"/>
              </a:rPr>
              <a:t></a:t>
            </a:r>
            <a:r>
              <a:rPr lang="en-US" sz="1700" b="1">
                <a:solidFill>
                  <a:schemeClr val="dk1"/>
                </a:solidFill>
              </a:rPr>
              <a:t> Celline exclusion from test.  		Drug col </a:t>
            </a:r>
            <a:r>
              <a:rPr lang="en-US" sz="1700" b="1">
                <a:solidFill>
                  <a:schemeClr val="dk1"/>
                </a:solidFill>
                <a:sym typeface="Wingdings" pitchFamily="2" charset="2"/>
              </a:rPr>
              <a:t></a:t>
            </a:r>
            <a:r>
              <a:rPr lang="en-US" sz="1700" b="1">
                <a:solidFill>
                  <a:schemeClr val="dk1"/>
                </a:solidFill>
              </a:rPr>
              <a:t> Drug exclusion from test. 		Random </a:t>
            </a:r>
            <a:r>
              <a:rPr lang="en-US" sz="1700" b="1">
                <a:solidFill>
                  <a:schemeClr val="dk1"/>
                </a:solidFill>
                <a:sym typeface="Wingdings" pitchFamily="2" charset="2"/>
              </a:rPr>
              <a:t></a:t>
            </a:r>
            <a:r>
              <a:rPr lang="en-US" sz="1700" b="1">
                <a:solidFill>
                  <a:schemeClr val="dk1"/>
                </a:solidFill>
              </a:rPr>
              <a:t> no exclusion. Random splits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117" name="Google Shape;117;g3e5a5356dd2_0_11"/>
          <p:cNvSpPr txBox="1"/>
          <p:nvPr/>
        </p:nvSpPr>
        <p:spPr>
          <a:xfrm>
            <a:off x="891700" y="394025"/>
            <a:ext cx="14472600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Data compression pipeline: raw `CellLine[0]` = `23808` dimensions -&gt; keep top `3000` highest variance -&gt; z-score -&gt; PCA -&gt; 128 dim vector</a:t>
            </a:r>
            <a:endParaRPr sz="1700" b="1"/>
          </a:p>
        </p:txBody>
      </p:sp>
      <p:graphicFrame>
        <p:nvGraphicFramePr>
          <p:cNvPr id="118" name="Google Shape;118;g3e5a5356dd2_0_11"/>
          <p:cNvGraphicFramePr/>
          <p:nvPr>
            <p:extLst>
              <p:ext uri="{D42A27DB-BD31-4B8C-83A1-F6EECF244321}">
                <p14:modId xmlns:p14="http://schemas.microsoft.com/office/powerpoint/2010/main" val="2964753204"/>
              </p:ext>
            </p:extLst>
          </p:nvPr>
        </p:nvGraphicFramePr>
        <p:xfrm>
          <a:off x="0" y="1232124"/>
          <a:ext cx="16142075" cy="202778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0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53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20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5433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model_id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random_test_mse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random_test_pearson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drug_test_mse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drug_test_pearson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cell_line_test_mse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cell_line_test_pearson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drug_and_cell_line_test_mse</a:t>
                      </a:r>
                      <a:endParaRPr sz="10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/>
                        <a:t>drug_and_cell_line_test_pearson</a:t>
                      </a:r>
                      <a:endParaRPr sz="10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cv10_10k_mse</a:t>
                      </a:r>
                      <a:endParaRPr sz="1150" b="1"/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no_genes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20.25023415772610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0.550455310509516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27.907377997214800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0.031646965345391300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21.87033367622750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0.5614096728707320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24.71524943681120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0.3799996050072120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16.908253549746100</a:t>
                      </a:r>
                      <a:endParaRPr sz="1150"/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b="1"/>
                        <a:t>pca128</a:t>
                      </a:r>
                      <a:endParaRPr sz="1150" b="1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19.04190770111340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0.5892189943581720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25.092786396312200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0.12393760151724000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36.02842263172420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0.40941038112578200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31.99514963363820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0.30315479396561500</a:t>
                      </a:r>
                      <a:endParaRPr sz="115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14.92367250878630</a:t>
                      </a:r>
                      <a:endParaRPr sz="1150"/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9" name="Google Shape;119;g3e5a5356dd2_0_11"/>
          <p:cNvPicPr preferRelativeResize="0"/>
          <p:nvPr/>
        </p:nvPicPr>
        <p:blipFill rotWithShape="1">
          <a:blip r:embed="rId3">
            <a:alphaModFix/>
          </a:blip>
          <a:srcRect t="16157" b="24965"/>
          <a:stretch>
            <a:fillRect/>
          </a:stretch>
        </p:blipFill>
        <p:spPr>
          <a:xfrm>
            <a:off x="0" y="4303986"/>
            <a:ext cx="16256000" cy="4840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2CAC43D-754A-16DE-BB40-CFBCDA735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60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e5a5356dd2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65150"/>
            <a:ext cx="4884051" cy="447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e5a5356dd2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9425" y="4771400"/>
            <a:ext cx="5614074" cy="43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e5a5356dd2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3500" y="4771400"/>
            <a:ext cx="4977699" cy="43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updated fold 1 regression">
            <a:extLst>
              <a:ext uri="{FF2B5EF4-FFF2-40B4-BE49-F238E27FC236}">
                <a16:creationId xmlns:a16="http://schemas.microsoft.com/office/drawing/2014/main" id="{0EC87C89-F77B-041C-2C45-B384718CAF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025"/>
            <a:ext cx="5359425" cy="4478850"/>
          </a:xfrm>
          <a:prstGeom prst="rect">
            <a:avLst/>
          </a:prstGeom>
        </p:spPr>
      </p:pic>
      <p:pic>
        <p:nvPicPr>
          <p:cNvPr id="5" name="Picture 4" descr="fold 2 regression">
            <a:extLst>
              <a:ext uri="{FF2B5EF4-FFF2-40B4-BE49-F238E27FC236}">
                <a16:creationId xmlns:a16="http://schemas.microsoft.com/office/drawing/2014/main" id="{9F5A9412-D8AE-0AAC-1A17-A03B29B6E1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072" y="146275"/>
            <a:ext cx="5359426" cy="4478850"/>
          </a:xfrm>
          <a:prstGeom prst="rect">
            <a:avLst/>
          </a:prstGeom>
        </p:spPr>
      </p:pic>
      <p:pic>
        <p:nvPicPr>
          <p:cNvPr id="6" name="Picture 5" descr="fold 3 regression">
            <a:extLst>
              <a:ext uri="{FF2B5EF4-FFF2-40B4-BE49-F238E27FC236}">
                <a16:creationId xmlns:a16="http://schemas.microsoft.com/office/drawing/2014/main" id="{BFBCE89C-BFCD-E895-49EC-1471A9FC1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3499" y="0"/>
            <a:ext cx="5175584" cy="4771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ight Triangle 14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35626" y="4447822"/>
            <a:ext cx="4389120" cy="42672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698" y="831033"/>
            <a:ext cx="14540071" cy="7477176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4" name="Google Shape;134;g3e5a5356dd2_0_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24444" y="0"/>
            <a:ext cx="15831556" cy="9139242"/>
          </a:xfrm>
          <a:prstGeom prst="rect">
            <a:avLst/>
          </a:prstGeom>
          <a:noFill/>
        </p:spPr>
      </p:pic>
      <p:pic>
        <p:nvPicPr>
          <p:cNvPr id="135" name="Google Shape;135;g3e5a5356dd2_0_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0534650" y="660057"/>
            <a:ext cx="5575195" cy="49697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e5a5356dd2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118523" cy="454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e5a5356dd2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96825"/>
            <a:ext cx="7966126" cy="429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e5a5356dd2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0925" y="152400"/>
            <a:ext cx="7832676" cy="42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e5a5356dd2_0_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95548" y="4599575"/>
            <a:ext cx="7808044" cy="43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3e5a5356dd2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7775"/>
            <a:ext cx="15951201" cy="6378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ight Triangle 156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35626" y="4447822"/>
            <a:ext cx="4389120" cy="42672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698" y="831033"/>
            <a:ext cx="14540071" cy="7477176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4" name="Google Shape;154;g3e5a5356dd2_0_6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90550" y="428979"/>
            <a:ext cx="10845076" cy="8286044"/>
          </a:xfrm>
          <a:prstGeom prst="rect">
            <a:avLst/>
          </a:prstGeom>
          <a:noFill/>
        </p:spPr>
      </p:pic>
      <p:pic>
        <p:nvPicPr>
          <p:cNvPr id="153" name="Google Shape;153;g3e5a5356dd2_0_6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362949" y="375038"/>
            <a:ext cx="7462935" cy="45287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gen item">
            <a:extLst>
              <a:ext uri="{FF2B5EF4-FFF2-40B4-BE49-F238E27FC236}">
                <a16:creationId xmlns:a16="http://schemas.microsoft.com/office/drawing/2014/main" id="{879B50AB-6B26-EBD1-A1BE-7762B1063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87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E5CAA2-8404-9FB6-6B86-90A307A45079}"/>
                  </a:ext>
                </a:extLst>
              </p:cNvPr>
              <p:cNvSpPr txBox="1"/>
              <p:nvPr/>
            </p:nvSpPr>
            <p:spPr>
              <a:xfrm>
                <a:off x="4287077" y="3343919"/>
                <a:ext cx="11381361" cy="34340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8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8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80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he-IL" sz="8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80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800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80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he-IL" sz="8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8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he-IL" sz="8000" i="1">
                                        <a:latin typeface="Cambria Math" panose="02040503050406030204" pitchFamily="18" charset="0"/>
                                      </a:rPr>
                                      <m:t>23808</m:t>
                                    </m:r>
                                    <m:r>
                                      <a:rPr lang="en-US" sz="8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80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he-IL" sz="8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8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he-IL" sz="8000" i="1">
                                        <a:latin typeface="Cambria Math" panose="02040503050406030204" pitchFamily="18" charset="0"/>
                                      </a:rPr>
                                      <m:t>23808</m:t>
                                    </m:r>
                                    <m: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E5CAA2-8404-9FB6-6B86-90A307A45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077" y="3343919"/>
                <a:ext cx="11381361" cy="3434017"/>
              </a:xfrm>
              <a:prstGeom prst="rect">
                <a:avLst/>
              </a:prstGeom>
              <a:blipFill>
                <a:blip r:embed="rId2"/>
                <a:stretch>
                  <a:fillRect r="-1449" b="-3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78C5CA18-54DE-6B1E-AA4A-AA65C6A7C212}"/>
              </a:ext>
            </a:extLst>
          </p:cNvPr>
          <p:cNvSpPr/>
          <p:nvPr/>
        </p:nvSpPr>
        <p:spPr>
          <a:xfrm>
            <a:off x="3210129" y="3343919"/>
            <a:ext cx="1439693" cy="36234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D14E7D7-1B93-B919-5D5A-B1CED3A352E1}"/>
              </a:ext>
            </a:extLst>
          </p:cNvPr>
          <p:cNvSpPr/>
          <p:nvPr/>
        </p:nvSpPr>
        <p:spPr>
          <a:xfrm rot="5400000">
            <a:off x="9654281" y="-2440398"/>
            <a:ext cx="1202983" cy="98889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29E75-51C2-4F73-0F9E-D348DCC75CCB}"/>
              </a:ext>
            </a:extLst>
          </p:cNvPr>
          <p:cNvSpPr txBox="1"/>
          <p:nvPr/>
        </p:nvSpPr>
        <p:spPr>
          <a:xfrm>
            <a:off x="5856051" y="962085"/>
            <a:ext cx="63017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Number of bio-programs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D79C2-211E-A72B-5E32-CE0D6C3DB7F4}"/>
              </a:ext>
            </a:extLst>
          </p:cNvPr>
          <p:cNvSpPr txBox="1"/>
          <p:nvPr/>
        </p:nvSpPr>
        <p:spPr>
          <a:xfrm>
            <a:off x="136188" y="3768265"/>
            <a:ext cx="53113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/>
              <a:t>Number of celline </a:t>
            </a:r>
          </a:p>
          <a:p>
            <a:r>
              <a:rPr lang="en-US" sz="5400"/>
              <a:t>genes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5E190854-BA2D-F3BF-FC23-A018D13B994D}"/>
              </a:ext>
            </a:extLst>
          </p:cNvPr>
          <p:cNvSpPr/>
          <p:nvPr/>
        </p:nvSpPr>
        <p:spPr>
          <a:xfrm rot="16200000">
            <a:off x="9441000" y="4899136"/>
            <a:ext cx="1214518" cy="5351039"/>
          </a:xfrm>
          <a:prstGeom prst="leftBrace">
            <a:avLst>
              <a:gd name="adj1" fmla="val 8333"/>
              <a:gd name="adj2" fmla="val 5127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12E30F-EBD8-350B-47FD-C160B05878A4}"/>
              </a:ext>
            </a:extLst>
          </p:cNvPr>
          <p:cNvSpPr txBox="1"/>
          <p:nvPr/>
        </p:nvSpPr>
        <p:spPr>
          <a:xfrm>
            <a:off x="9738469" y="8181915"/>
            <a:ext cx="7284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>
                <a:highlight>
                  <a:srgbClr val="00FFFF"/>
                </a:highlight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914757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A99A1-0C8F-ECFC-3366-ECB2C44B6C8D}"/>
              </a:ext>
            </a:extLst>
          </p:cNvPr>
          <p:cNvSpPr txBox="1"/>
          <p:nvPr/>
        </p:nvSpPr>
        <p:spPr>
          <a:xfrm>
            <a:off x="5966329" y="3052866"/>
            <a:ext cx="3385226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900">
                <a:highlight>
                  <a:srgbClr val="00FFFF"/>
                </a:highlight>
              </a:rPr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F1E83E-1AD3-A6A1-5B48-4D4EE54D3E99}"/>
                  </a:ext>
                </a:extLst>
              </p:cNvPr>
              <p:cNvSpPr txBox="1"/>
              <p:nvPr/>
            </p:nvSpPr>
            <p:spPr>
              <a:xfrm>
                <a:off x="216806" y="3052866"/>
                <a:ext cx="5749523" cy="3267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8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8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8000" b="0" i="1" smtClean="0">
                                    <a:latin typeface="Cambria Math" panose="02040503050406030204" pitchFamily="18" charset="0"/>
                                  </a:rPr>
                                  <m:t>𝑔𝑒𝑛</m:t>
                                </m:r>
                                <m:sSub>
                                  <m:sSubPr>
                                    <m:ctrlP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8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80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8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8000" i="1">
                                    <a:latin typeface="Cambria Math" panose="02040503050406030204" pitchFamily="18" charset="0"/>
                                  </a:rPr>
                                  <m:t>𝑒𝑛</m:t>
                                </m:r>
                                <m:sSub>
                                  <m:sSubPr>
                                    <m:ctrlPr>
                                      <a:rPr lang="en-US" sz="8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80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he-IL" sz="7200" i="1">
                                        <a:latin typeface="Cambria Math" panose="02040503050406030204" pitchFamily="18" charset="0"/>
                                      </a:rPr>
                                      <m:t>23808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F1E83E-1AD3-A6A1-5B48-4D4EE54D3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06" y="3052866"/>
                <a:ext cx="5749523" cy="3267176"/>
              </a:xfrm>
              <a:prstGeom prst="rect">
                <a:avLst/>
              </a:prstGeom>
              <a:blipFill>
                <a:blip r:embed="rId2"/>
                <a:stretch>
                  <a:fillRect t="-1163" b="-9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8F5E96-FF15-A1E9-AB60-2077B1670A52}"/>
                  </a:ext>
                </a:extLst>
              </p:cNvPr>
              <p:cNvSpPr txBox="1"/>
              <p:nvPr/>
            </p:nvSpPr>
            <p:spPr>
              <a:xfrm>
                <a:off x="8710665" y="2882178"/>
                <a:ext cx="7545335" cy="34960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8000" b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8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8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𝑏𝑖𝑜</m:t>
                              </m:r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𝑝𝑟𝑜</m:t>
                              </m:r>
                              <m:sSub>
                                <m:sSubPr>
                                  <m:ctrlPr>
                                    <a:rPr lang="en-US" sz="8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8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𝑏𝑖𝑜</m:t>
                              </m:r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𝑝𝑟𝑜</m:t>
                              </m:r>
                              <m:sSub>
                                <m:sSubPr>
                                  <m:ctrlPr>
                                    <a:rPr lang="en-US" sz="8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8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80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8F5E96-FF15-A1E9-AB60-2077B1670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65" y="2882178"/>
                <a:ext cx="7545335" cy="3496085"/>
              </a:xfrm>
              <a:prstGeom prst="rect">
                <a:avLst/>
              </a:prstGeom>
              <a:blipFill>
                <a:blip r:embed="rId3"/>
                <a:stretch>
                  <a:fillRect l="-8054" t="-725" b="-9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446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01541" y="-338226"/>
            <a:ext cx="2436850" cy="1835984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188854" y="562861"/>
            <a:ext cx="860491" cy="86049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91309" y="873520"/>
            <a:ext cx="916629" cy="916629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475524" y="0"/>
            <a:ext cx="3780476" cy="197444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7" name="Isosceles Triangle 18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35125" y="8154001"/>
            <a:ext cx="1992684" cy="989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2" name="Google Shape;172;p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04850" y="1972957"/>
            <a:ext cx="14693194" cy="61810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Isosceles Triangle 18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138773" y="8604190"/>
            <a:ext cx="1086537" cy="53981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4619516" y="3144"/>
            <a:ext cx="2502204" cy="2354677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649595" y="8044888"/>
            <a:ext cx="860491" cy="860491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1248" y="7628144"/>
            <a:ext cx="3015953" cy="1515854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802441-E759-BF1F-C665-4C67C3260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56" y="1761067"/>
            <a:ext cx="14540088" cy="4592092"/>
          </a:xfrm>
          <a:prstGeom prst="rect">
            <a:avLst/>
          </a:prstGeom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913631-288A-8D87-3E3F-60720735F417}"/>
              </a:ext>
            </a:extLst>
          </p:cNvPr>
          <p:cNvSpPr/>
          <p:nvPr/>
        </p:nvSpPr>
        <p:spPr>
          <a:xfrm>
            <a:off x="9557808" y="1433801"/>
            <a:ext cx="3420533" cy="5246624"/>
          </a:xfrm>
          <a:prstGeom prst="rect">
            <a:avLst/>
          </a:prstGeom>
          <a:noFill/>
          <a:ln w="857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4175B696-BBB6-DE84-BE1C-951E8CF13980}"/>
              </a:ext>
            </a:extLst>
          </p:cNvPr>
          <p:cNvSpPr/>
          <p:nvPr/>
        </p:nvSpPr>
        <p:spPr>
          <a:xfrm>
            <a:off x="10858500" y="2491909"/>
            <a:ext cx="819150" cy="937091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0461E-A34D-8811-C731-F3365106F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Molecules and transformers </a:t>
            </a:r>
          </a:p>
        </p:txBody>
      </p:sp>
      <p:pic>
        <p:nvPicPr>
          <p:cNvPr id="4" name="Picture 3" descr="image gen item">
            <a:extLst>
              <a:ext uri="{FF2B5EF4-FFF2-40B4-BE49-F238E27FC236}">
                <a16:creationId xmlns:a16="http://schemas.microsoft.com/office/drawing/2014/main" id="{B4D100EB-AC7F-FFA5-74C0-7DE40F060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313" y="0"/>
            <a:ext cx="1637731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64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01541" y="-338226"/>
            <a:ext cx="2436850" cy="1835984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188854" y="562861"/>
            <a:ext cx="860491" cy="86049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91309" y="873520"/>
            <a:ext cx="916629" cy="916629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475524" y="0"/>
            <a:ext cx="3780476" cy="197444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35125" y="8154001"/>
            <a:ext cx="1992684" cy="989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oogle Shape;174;p8">
            <a:extLst>
              <a:ext uri="{FF2B5EF4-FFF2-40B4-BE49-F238E27FC236}">
                <a16:creationId xmlns:a16="http://schemas.microsoft.com/office/drawing/2014/main" id="{E967D998-C3E0-AE54-F466-D546527B552D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7956" y="3263393"/>
            <a:ext cx="14540088" cy="261721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138773" y="8604190"/>
            <a:ext cx="1086537" cy="53981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79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9"/>
          <p:cNvPicPr preferRelativeResize="0"/>
          <p:nvPr/>
        </p:nvPicPr>
        <p:blipFill rotWithShape="1">
          <a:blip r:embed="rId3">
            <a:alphaModFix/>
          </a:blip>
          <a:srcRect t="17817"/>
          <a:stretch>
            <a:fillRect/>
          </a:stretch>
        </p:blipFill>
        <p:spPr>
          <a:xfrm>
            <a:off x="0" y="0"/>
            <a:ext cx="16256000" cy="91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5a5356dd2_0_102"/>
          <p:cNvSpPr txBox="1"/>
          <p:nvPr/>
        </p:nvSpPr>
        <p:spPr>
          <a:xfrm>
            <a:off x="5975400" y="3154950"/>
            <a:ext cx="40173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e5a5356dd2_0_102"/>
          <p:cNvSpPr txBox="1"/>
          <p:nvPr/>
        </p:nvSpPr>
        <p:spPr>
          <a:xfrm>
            <a:off x="-50" y="58450"/>
            <a:ext cx="16256100" cy="89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DeepSynergy, baseline for the current MLP-based synergy predictor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Preuer, K., Lewis, R. P. I., Hochreiter, S., Bender, A., Bulusu, K. C., and Klambauer, G. DeepSynergy: predicting anti-cancer drug synergy with Deep Learning.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3"/>
              </a:rPr>
              <a:t>https://academic.oup.com/bioinformatics/article/34/9/1538/4747884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4"/>
              </a:rPr>
              <a:t>https://www.bioinf.jku.at/software/DeepSynergy/</a:t>
            </a:r>
            <a:endParaRPr sz="1500" u="sng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SOTA model Diagram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https://ars.els-cdn.com/content/image/1-s2.0-S1476927125003974-ga1_lrg.jpg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https://www.sciencedirect.com/science/article/abs/pii/S1476927125003974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https://academic.oup.com/bioinformatics/article/34/8/1433/4657075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Main reference implementation used to understand a stronger drug-synergy pipeline and where gene expression enters the model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Kuru, H. I., Tastan, O., and Cicek, A. E. MatchMaker: A Deep Learning Framework for Drug Synergy Prediction.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DrugComb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Zagidullin, B. et al. DrugComb: an integrative cancer drug combination data portal.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Baseline for autoencoder-style compression of high-dimensional omics features before synergy prediction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AuDNNsynergy.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Relevant next-stage references (network-informed or biologically structured encoders for gene-expression data)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PRODeepSyn and TranSynergy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Large models might overfit (GNNs, LLMs)</a:t>
            </a:r>
            <a:endParaRPr sz="1500" u="sng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5"/>
              </a:rPr>
              <a:t>https://www.nature.com/articles/s41467-017-02391-6?utm_source=chatgpt.com</a:t>
            </a:r>
            <a:r>
              <a:rPr lang="en-US" sz="1500">
                <a:solidFill>
                  <a:schemeClr val="dk1"/>
                </a:solidFill>
              </a:rPr>
              <a:t> shows why something like regulon might be better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u="sng">
                <a:solidFill>
                  <a:schemeClr val="hlink"/>
                </a:solidFill>
                <a:hlinkClick r:id="rId6"/>
              </a:rPr>
              <a:t>https://pmc.ncbi.nlm.nih.gov/articles/PMC12753315/</a:t>
            </a:r>
            <a:r>
              <a:rPr lang="en-US" sz="1500">
                <a:solidFill>
                  <a:schemeClr val="dk1"/>
                </a:solidFill>
              </a:rPr>
              <a:t> - why big models fail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ttps://www.nature.com/articles/s41698-024-00589-8 - Birefly mention their big models failed, and they used GNNs, but also used biological context (rely on multi-omics data ?)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this is an obstacle we had to overcome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Transctiption networks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7"/>
              </a:rPr>
              <a:t>https://string-db.org/cgi/download?sessionId=bXpoT6tV8LHu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dk1"/>
                </a:solidFill>
              </a:rPr>
              <a:t>Metabolic pathways</a:t>
            </a:r>
            <a:endParaRPr sz="1500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8"/>
              </a:rPr>
              <a:t>https://www.kegg.jp/pathway/map01100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1076</Words>
  <Application>Microsoft Macintosh PowerPoint</Application>
  <PresentationFormat>Custom</PresentationFormat>
  <Paragraphs>117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Wingdings</vt:lpstr>
      <vt:lpstr>Cambria Math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Arnold Cheskis</cp:lastModifiedBy>
  <cp:revision>4</cp:revision>
  <dcterms:created xsi:type="dcterms:W3CDTF">2006-08-16T00:00:00Z</dcterms:created>
  <dcterms:modified xsi:type="dcterms:W3CDTF">2026-06-02T21:43:20Z</dcterms:modified>
</cp:coreProperties>
</file>